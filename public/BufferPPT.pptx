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8288000" cy="10287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x</a:t>
            </a: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</a:t>
            </a:r>
            <a:endParaRPr lang="en-US" sz="2000" b="1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1440" tIns="45000" rIns="91440" bIns="45000" anchor="t">
            <a:noAutofit/>
          </a:bodyPr>
          <a:lstStyle>
            <a:lvl1pPr algn="l" defTabSz="914400">
              <a:spcBef>
                <a:spcPts val="3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indent="457200" algn="l" defTabSz="91440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indent="914400" algn="l" defTabSz="91440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indent="1371600" algn="l" defTabSz="91440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indent="1828800" algn="l" defTabSz="91440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indent="18288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indent="18288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30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1" algn="l" defTabSz="91440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2" algn="l" defTabSz="91440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3" algn="l" defTabSz="914400">
              <a:spcBef>
                <a:spcPts val="3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4" algn="l" defTabSz="914400">
              <a:spcBef>
                <a:spcPts val="3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1pPr>
            <a:lvl2pPr indent="45720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2pPr>
            <a:lvl3pPr indent="91440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3pPr>
            <a:lvl4pPr indent="137160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4pPr>
            <a:lvl5pPr indent="182880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One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Two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Three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Four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300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Five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>
          <a:xfrm>
            <a:off x="8428320" y="6414840"/>
            <a:ext cx="258120" cy="2480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x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t">
            <a:noAutofit/>
          </a:bodyPr>
          <a:lstStyle>
            <a:lvl1pPr indent="0" algn="ctr" defTabSz="914400">
              <a:lnSpc>
                <a:spcPct val="100000"/>
              </a:lnSpc>
              <a:spcBef>
                <a:spcPts val="700"/>
              </a:spcBef>
              <a:buNone/>
              <a:tabLst>
                <a:tab pos="0" algn="l"/>
              </a:tabLst>
              <a:defRPr lang="en-US" sz="3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  <a:lvl2pPr indent="457200" algn="ctr" defTabSz="914400">
              <a:lnSpc>
                <a:spcPct val="100000"/>
              </a:lnSpc>
              <a:spcBef>
                <a:spcPts val="700"/>
              </a:spcBef>
              <a:buNone/>
              <a:tabLst>
                <a:tab pos="0" algn="l"/>
              </a:tabLst>
              <a:defRPr lang="en-US" sz="3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2pPr>
            <a:lvl3pPr indent="914400" algn="ctr" defTabSz="914400">
              <a:lnSpc>
                <a:spcPct val="100000"/>
              </a:lnSpc>
              <a:spcBef>
                <a:spcPts val="700"/>
              </a:spcBef>
              <a:buNone/>
              <a:tabLst>
                <a:tab pos="0" algn="l"/>
              </a:tabLst>
              <a:defRPr lang="en-US" sz="3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3pPr>
            <a:lvl4pPr indent="1371600" algn="ctr" defTabSz="914400">
              <a:lnSpc>
                <a:spcPct val="100000"/>
              </a:lnSpc>
              <a:spcBef>
                <a:spcPts val="700"/>
              </a:spcBef>
              <a:buNone/>
              <a:tabLst>
                <a:tab pos="0" algn="l"/>
              </a:tabLst>
              <a:defRPr lang="en-US" sz="3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4pPr>
            <a:lvl5pPr indent="1828800" algn="ctr" defTabSz="914400">
              <a:lnSpc>
                <a:spcPct val="100000"/>
              </a:lnSpc>
              <a:spcBef>
                <a:spcPts val="700"/>
              </a:spcBef>
              <a:buNone/>
              <a:tabLst>
                <a:tab pos="0" algn="l"/>
              </a:tabLst>
              <a:defRPr lang="en-US" sz="3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indent="0" algn="ctr" defTabSz="914400">
              <a:lnSpc>
                <a:spcPct val="100000"/>
              </a:lnSpc>
              <a:spcBef>
                <a:spcPts val="700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Body Level One</a:t>
            </a:r>
            <a:endParaRPr lang="en-US" sz="3200" b="0" u="none" strike="noStrike">
              <a:solidFill>
                <a:srgbClr val="888888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100000"/>
              </a:lnSpc>
              <a:spcBef>
                <a:spcPts val="700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Body Level Two</a:t>
            </a:r>
            <a:endParaRPr lang="en-US" sz="3200" b="0" u="none" strike="noStrike">
              <a:solidFill>
                <a:srgbClr val="888888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100000"/>
              </a:lnSpc>
              <a:spcBef>
                <a:spcPts val="700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Body Level Three</a:t>
            </a:r>
            <a:endParaRPr lang="en-US" sz="3200" b="0" u="none" strike="noStrike">
              <a:solidFill>
                <a:srgbClr val="888888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100000"/>
              </a:lnSpc>
              <a:spcBef>
                <a:spcPts val="700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Body Level Four</a:t>
            </a:r>
            <a:endParaRPr lang="en-US" sz="3200" b="0" u="none" strike="noStrike">
              <a:solidFill>
                <a:srgbClr val="888888"/>
              </a:solidFill>
              <a:effectLst/>
              <a:uFillTx/>
              <a:latin typeface="Calibri"/>
            </a:endParaRPr>
          </a:p>
          <a:p>
            <a:pPr indent="0" algn="ctr" defTabSz="914400">
              <a:lnSpc>
                <a:spcPct val="100000"/>
              </a:lnSpc>
              <a:spcBef>
                <a:spcPts val="700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Body Level Five</a:t>
            </a:r>
            <a:endParaRPr lang="en-US" sz="3200" b="0" u="none" strike="noStrike">
              <a:solidFill>
                <a:srgbClr val="888888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sldNum" idx="2"/>
          </p:nvPr>
        </p:nvSpPr>
        <p:spPr>
          <a:xfrm>
            <a:off x="8428320" y="6414840"/>
            <a:ext cx="258120" cy="2480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x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»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One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83720" lvl="1" indent="-326520" algn="l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Two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19320" lvl="2" indent="-304920" algn="l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Three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37360" lvl="3" indent="-365760" algn="l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Four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94560" lvl="4" indent="-365760" algn="l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»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Five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3"/>
          </p:nvPr>
        </p:nvSpPr>
        <p:spPr>
          <a:xfrm>
            <a:off x="8428320" y="6414840"/>
            <a:ext cx="258120" cy="2480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Title Text</a:t>
            </a:r>
            <a:endParaRPr lang="en-US" sz="4000" b="1" u="none" strike="noStrike" cap="all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1pPr>
            <a:lvl2pPr indent="4572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2pPr>
            <a:lvl3pPr indent="9144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3pPr>
            <a:lvl4pPr indent="13716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4pPr>
            <a:lvl5pPr indent="182880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Body Level One</a:t>
            </a:r>
            <a:endParaRPr lang="en-US" sz="2000" b="0" u="none" strike="noStrike">
              <a:solidFill>
                <a:srgbClr val="888888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Body Level Two</a:t>
            </a:r>
            <a:endParaRPr lang="en-US" sz="2000" b="0" u="none" strike="noStrike">
              <a:solidFill>
                <a:srgbClr val="888888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Body Level Three</a:t>
            </a:r>
            <a:endParaRPr lang="en-US" sz="2000" b="0" u="none" strike="noStrike">
              <a:solidFill>
                <a:srgbClr val="888888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Body Level Four</a:t>
            </a:r>
            <a:endParaRPr lang="en-US" sz="2000" b="0" u="none" strike="noStrike">
              <a:solidFill>
                <a:srgbClr val="888888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rgbClr val="888888"/>
                </a:solidFill>
                <a:effectLst/>
                <a:uFillTx/>
                <a:latin typeface="Calibri"/>
                <a:ea typeface="Calibri"/>
              </a:rPr>
              <a:t>Body Level Five</a:t>
            </a:r>
            <a:endParaRPr lang="en-US" sz="2000" b="0" u="none" strike="noStrike">
              <a:solidFill>
                <a:srgbClr val="888888"/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sldNum" idx="4"/>
          </p:nvPr>
        </p:nvSpPr>
        <p:spPr>
          <a:xfrm>
            <a:off x="8428320" y="6414840"/>
            <a:ext cx="258120" cy="2480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Title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Text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»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One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90560" lvl="1" indent="-333360" algn="l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Two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34440" lvl="2" indent="-320040" algn="l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Three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7280" lvl="3" indent="-355680" algn="l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Four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84480" lvl="4" indent="-355680" algn="l" defTabSz="914400">
              <a:lnSpc>
                <a:spcPct val="10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»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Five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sldNum" idx="5"/>
          </p:nvPr>
        </p:nvSpPr>
        <p:spPr>
          <a:xfrm>
            <a:off x="8428320" y="6414840"/>
            <a:ext cx="258120" cy="2480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Title Text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1pPr>
            <a:lvl2pPr indent="45720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2pPr>
            <a:lvl3pPr indent="91440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3pPr>
            <a:lvl4pPr indent="137160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4pPr>
            <a:lvl5pPr indent="182880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One</a:t>
            </a:r>
            <a:endParaRPr lang="en-US" sz="2400" b="1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Two</a:t>
            </a:r>
            <a:endParaRPr lang="en-US" sz="2400" b="1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Three</a:t>
            </a:r>
            <a:endParaRPr lang="en-US" sz="2400" b="1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Four</a:t>
            </a:r>
            <a:endParaRPr lang="en-US" sz="2400" b="1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indent="0" algn="l" defTabSz="914400">
              <a:lnSpc>
                <a:spcPct val="100000"/>
              </a:lnSpc>
              <a:spcBef>
                <a:spcPts val="49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Five</a:t>
            </a:r>
            <a:endParaRPr lang="en-US" sz="2400" b="1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b">
            <a:noAutofit/>
          </a:bodyPr>
          <a:lstStyle>
            <a:lvl1pPr indent="0" algn="l" defTabSz="914400">
              <a:spcBef>
                <a:spcPts val="499"/>
              </a:spcBef>
              <a:tabLst>
                <a:tab pos="0" algn="l"/>
              </a:tabLst>
              <a:def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indent="457200" algn="l" defTabSz="9144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indent="914400" algn="l" defTabSz="9144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indent="1371600" algn="l" defTabSz="9144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indent="1828800" algn="l" defTabSz="9144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indent="18288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indent="18288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343080" indent="0" algn="l" defTabSz="914400">
              <a:spcBef>
                <a:spcPts val="499"/>
              </a:spcBef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1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83720" lvl="1" indent="-326520" algn="l" defTabSz="9144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1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19320" lvl="2" indent="-304920" algn="l" defTabSz="9144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1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37360" lvl="3" indent="-365760" algn="l" defTabSz="914400"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1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94560" lvl="4" indent="-365760" algn="l" defTabSz="914400"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1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651760" lvl="5" indent="-36576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1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108960" lvl="6" indent="-36576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1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1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sldNum" idx="6"/>
          </p:nvPr>
        </p:nvSpPr>
        <p:spPr>
          <a:xfrm>
            <a:off x="8428320" y="6414840"/>
            <a:ext cx="258120" cy="2480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i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l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 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x</a:t>
            </a: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sldNum" idx="7"/>
          </p:nvPr>
        </p:nvSpPr>
        <p:spPr>
          <a:xfrm>
            <a:off x="8428320" y="6414840"/>
            <a:ext cx="258120" cy="2480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sldNum" idx="8"/>
          </p:nvPr>
        </p:nvSpPr>
        <p:spPr>
          <a:xfrm>
            <a:off x="8428320" y="6414840"/>
            <a:ext cx="258120" cy="2480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tabLst>
                <a:tab pos="0" algn="l"/>
              </a:tabLst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7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7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7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7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Title Text</a:t>
            </a:r>
            <a:endParaRPr lang="en-US" sz="2000" b="1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1pPr>
            <a:lvl2pPr lvl="1" algn="l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2pPr>
            <a:lvl3pPr lvl="2" algn="l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3pPr>
            <a:lvl4pPr lvl="3" algn="l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4pPr>
            <a:lvl5pPr lvl="4" algn="l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»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One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83720" lvl="1" indent="-326520" algn="l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Two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19320" lvl="2" indent="-304920" algn="l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Three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37360" lvl="3" indent="-365760" algn="l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Four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94560" lvl="4" indent="-365760" algn="l" defTabSz="914400">
              <a:lnSpc>
                <a:spcPct val="100000"/>
              </a:lnSpc>
              <a:spcBef>
                <a:spcPts val="700"/>
              </a:spcBef>
              <a:buClr>
                <a:srgbClr val="000000"/>
              </a:buClr>
              <a:buFont typeface="Arial"/>
              <a:buChar char="»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Body Level Five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t">
            <a:noAutofit/>
          </a:bodyPr>
          <a:lstStyle>
            <a:lvl1pPr algn="l" defTabSz="914400">
              <a:spcBef>
                <a:spcPts val="700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7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7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7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783720" lvl="1" indent="-326520" algn="l" defTabSz="914400">
              <a:spcBef>
                <a:spcPts val="7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219320" lvl="2" indent="-304920" algn="l" defTabSz="914400"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1737360" lvl="3" indent="-365760" algn="l" defTabSz="914400">
              <a:spcBef>
                <a:spcPts val="7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94560" lvl="4" indent="-365760" algn="l" defTabSz="914400">
              <a:spcBef>
                <a:spcPts val="7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651760" lvl="5" indent="-36576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3108960" lvl="6" indent="-36576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sldNum" idx="9"/>
          </p:nvPr>
        </p:nvSpPr>
        <p:spPr>
          <a:xfrm>
            <a:off x="8428320" y="6414840"/>
            <a:ext cx="258120" cy="248040"/>
          </a:xfrm>
          <a:prstGeom prst="rect">
            <a:avLst/>
          </a:prstGeom>
          <a:noFill/>
          <a:ln w="12600">
            <a:noFill/>
          </a:ln>
        </p:spPr>
        <p:txBody>
          <a:bodyPr lIns="45720" tIns="45000" rIns="45720" bIns="45000" anchor="ctr">
            <a:noAutofit/>
          </a:bodyPr>
          <a:p>
            <a:pPr indent="0" algn="l">
              <a:buNone/>
            </a:pP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8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image" Target="../media/image2.png"/><Relationship Id="rId6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2.png"/><Relationship Id="rId5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8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Freeform 1"/>
          <p:cNvSpPr/>
          <p:nvPr/>
        </p:nvSpPr>
        <p:spPr>
          <a:xfrm>
            <a:off x="0" y="0"/>
            <a:ext cx="18287640" cy="10286640"/>
          </a:xfrm>
          <a:prstGeom prst="rect">
            <a:avLst/>
          </a:prstGeom>
          <a:blipFill rotWithShape="0">
            <a:blip r:embed="rId1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2" name="Freeform 3"/>
          <p:cNvSpPr/>
          <p:nvPr/>
        </p:nvSpPr>
        <p:spPr>
          <a:xfrm>
            <a:off x="1791720" y="3953520"/>
            <a:ext cx="411840" cy="411840"/>
          </a:xfrm>
          <a:prstGeom prst="rect">
            <a:avLst/>
          </a:prstGeom>
          <a:blipFill rotWithShape="0">
            <a:blip r:embed="rId2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3" name="Freeform 4"/>
          <p:cNvSpPr/>
          <p:nvPr/>
        </p:nvSpPr>
        <p:spPr>
          <a:xfrm>
            <a:off x="1791720" y="5070960"/>
            <a:ext cx="411840" cy="411840"/>
          </a:xfrm>
          <a:prstGeom prst="rect">
            <a:avLst/>
          </a:prstGeom>
          <a:blipFill rotWithShape="0">
            <a:blip r:embed="rId3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4" name="Freeform 5"/>
          <p:cNvSpPr/>
          <p:nvPr/>
        </p:nvSpPr>
        <p:spPr>
          <a:xfrm>
            <a:off x="1791720" y="6141600"/>
            <a:ext cx="411840" cy="411840"/>
          </a:xfrm>
          <a:prstGeom prst="rect">
            <a:avLst/>
          </a:prstGeom>
          <a:blipFill rotWithShape="0">
            <a:blip r:embed="rId4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5" name="Freeform 12"/>
          <p:cNvSpPr/>
          <p:nvPr/>
        </p:nvSpPr>
        <p:spPr>
          <a:xfrm>
            <a:off x="1791720" y="7315560"/>
            <a:ext cx="411840" cy="411840"/>
          </a:xfrm>
          <a:prstGeom prst="rect">
            <a:avLst/>
          </a:prstGeom>
          <a:blipFill rotWithShape="0">
            <a:blip r:embed="rId5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36" name="TextBox 1"/>
          <p:cNvSpPr/>
          <p:nvPr/>
        </p:nvSpPr>
        <p:spPr>
          <a:xfrm>
            <a:off x="17259480" y="9649800"/>
            <a:ext cx="129600" cy="5965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4700"/>
              </a:lnSpc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Box 2"/>
          <p:cNvSpPr/>
          <p:nvPr/>
        </p:nvSpPr>
        <p:spPr>
          <a:xfrm>
            <a:off x="685800" y="320040"/>
            <a:ext cx="60120" cy="213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Box 3"/>
          <p:cNvSpPr/>
          <p:nvPr/>
        </p:nvSpPr>
        <p:spPr>
          <a:xfrm>
            <a:off x="1884960" y="1905480"/>
            <a:ext cx="1315440" cy="6091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0" u="none" strike="noStrike">
                <a:solidFill>
                  <a:srgbClr val="729FCF"/>
                </a:solidFill>
                <a:effectLst/>
                <a:uFillTx/>
                <a:latin typeface="Times New Roman"/>
                <a:ea typeface="Times New Roman"/>
              </a:rPr>
              <a:t>B</a:t>
            </a:r>
            <a:r>
              <a:rPr lang="en-US" sz="4000" b="0" u="none" strike="noStrike">
                <a:solidFill>
                  <a:srgbClr val="729FCF"/>
                </a:solidFill>
                <a:effectLst/>
                <a:uFillTx/>
                <a:latin typeface="Times New Roman"/>
                <a:ea typeface="Times New Roman"/>
              </a:rPr>
              <a:t>uf</a:t>
            </a:r>
            <a:r>
              <a:rPr lang="en-US" sz="4000" b="0" u="none" strike="noStrike">
                <a:solidFill>
                  <a:srgbClr val="729FCF"/>
                </a:solidFill>
                <a:effectLst/>
                <a:uFillTx/>
                <a:latin typeface="Times New Roman"/>
                <a:ea typeface="Times New Roman"/>
              </a:rPr>
              <a:t>fe</a:t>
            </a:r>
            <a:r>
              <a:rPr lang="en-US" sz="4000" b="0" u="none" strike="noStrike">
                <a:solidFill>
                  <a:srgbClr val="729FCF"/>
                </a:solidFill>
                <a:effectLst/>
                <a:uFillTx/>
                <a:latin typeface="Times New Roman"/>
                <a:ea typeface="Times New Roman"/>
              </a:rPr>
              <a:t>r</a:t>
            </a:r>
            <a:endParaRPr lang="en-US" sz="4000" b="0" u="none" strike="noStrike">
              <a:solidFill>
                <a:srgbClr val="729FCF"/>
              </a:solidFill>
              <a:effectLst/>
              <a:uFillTx/>
              <a:latin typeface="Arial"/>
            </a:endParaRPr>
          </a:p>
        </p:txBody>
      </p:sp>
      <p:sp>
        <p:nvSpPr>
          <p:cNvPr id="39" name="TextBox 4"/>
          <p:cNvSpPr/>
          <p:nvPr/>
        </p:nvSpPr>
        <p:spPr>
          <a:xfrm>
            <a:off x="2405160" y="3898440"/>
            <a:ext cx="13532760" cy="358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Team Name : ThreadRippers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Box 5"/>
          <p:cNvSpPr/>
          <p:nvPr/>
        </p:nvSpPr>
        <p:spPr>
          <a:xfrm>
            <a:off x="2405160" y="5016240"/>
            <a:ext cx="13532760" cy="358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Theme : Smart Automation &amp; Digital Transformation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Box 6"/>
          <p:cNvSpPr/>
          <p:nvPr/>
        </p:nvSpPr>
        <p:spPr>
          <a:xfrm>
            <a:off x="2405160" y="6086520"/>
            <a:ext cx="14264280" cy="3430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3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Problem Statement Title : Workflow Orchestrator with Queuing System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Box 7"/>
          <p:cNvSpPr/>
          <p:nvPr/>
        </p:nvSpPr>
        <p:spPr>
          <a:xfrm>
            <a:off x="2405160" y="7260840"/>
            <a:ext cx="13532760" cy="3582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PS Category : Software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Freeform 2"/>
          <p:cNvSpPr/>
          <p:nvPr/>
        </p:nvSpPr>
        <p:spPr>
          <a:xfrm>
            <a:off x="0" y="0"/>
            <a:ext cx="18287640" cy="10286640"/>
          </a:xfrm>
          <a:prstGeom prst="rect">
            <a:avLst/>
          </a:prstGeom>
          <a:blipFill rotWithShape="0">
            <a:blip r:embed="rId1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4" name="Freeform 8"/>
          <p:cNvSpPr/>
          <p:nvPr/>
        </p:nvSpPr>
        <p:spPr>
          <a:xfrm>
            <a:off x="1499400" y="3948120"/>
            <a:ext cx="411840" cy="411840"/>
          </a:xfrm>
          <a:prstGeom prst="rect">
            <a:avLst/>
          </a:prstGeom>
          <a:blipFill rotWithShape="0">
            <a:blip r:embed="rId2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5" name="Freeform 9"/>
          <p:cNvSpPr/>
          <p:nvPr/>
        </p:nvSpPr>
        <p:spPr>
          <a:xfrm>
            <a:off x="1499400" y="5058720"/>
            <a:ext cx="411840" cy="411840"/>
          </a:xfrm>
          <a:prstGeom prst="rect">
            <a:avLst/>
          </a:prstGeom>
          <a:blipFill rotWithShape="0">
            <a:blip r:embed="rId3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6" name="Freeform 10"/>
          <p:cNvSpPr/>
          <p:nvPr/>
        </p:nvSpPr>
        <p:spPr>
          <a:xfrm>
            <a:off x="1499400" y="6166440"/>
            <a:ext cx="411840" cy="411840"/>
          </a:xfrm>
          <a:prstGeom prst="rect">
            <a:avLst/>
          </a:prstGeom>
          <a:blipFill rotWithShape="0">
            <a:blip r:embed="rId4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7" name="Freeform 11"/>
          <p:cNvSpPr/>
          <p:nvPr/>
        </p:nvSpPr>
        <p:spPr>
          <a:xfrm>
            <a:off x="1499400" y="7267680"/>
            <a:ext cx="411840" cy="411840"/>
          </a:xfrm>
          <a:prstGeom prst="rect">
            <a:avLst/>
          </a:prstGeom>
          <a:blipFill rotWithShape="0">
            <a:blip r:embed="rId5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48" name="TextBox 12"/>
          <p:cNvSpPr/>
          <p:nvPr/>
        </p:nvSpPr>
        <p:spPr>
          <a:xfrm>
            <a:off x="17201520" y="9643320"/>
            <a:ext cx="245160" cy="5734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4700"/>
              </a:lnSpc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Box 14"/>
          <p:cNvSpPr/>
          <p:nvPr/>
        </p:nvSpPr>
        <p:spPr>
          <a:xfrm>
            <a:off x="1494720" y="1896480"/>
            <a:ext cx="8562960" cy="120132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98000"/>
              </a:lnSpc>
              <a:spcBef>
                <a:spcPts val="1191"/>
              </a:spcBef>
              <a:spcAft>
                <a:spcPts val="992"/>
              </a:spcAft>
              <a:tabLst>
                <a:tab pos="0" algn="l"/>
              </a:tabLst>
            </a:pPr>
            <a:r>
              <a:rPr lang="en-US" sz="3600" b="1" u="none" strike="noStrike">
                <a:solidFill>
                  <a:srgbClr val="18055E"/>
                </a:solidFill>
                <a:effectLst/>
                <a:uFillTx/>
                <a:latin typeface="Times New Roman"/>
                <a:ea typeface="Times New Roman"/>
              </a:rPr>
              <a:t>Buffer – Intelligent Workflow Orchestrator 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8055E"/>
                </a:solidFill>
                <a:effectLst/>
                <a:uFillTx/>
                <a:latin typeface="Times New Roman"/>
                <a:ea typeface="Times New Roman"/>
              </a:rPr>
              <a:t>with  Smart Queuing System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Box 15"/>
          <p:cNvSpPr/>
          <p:nvPr/>
        </p:nvSpPr>
        <p:spPr>
          <a:xfrm>
            <a:off x="2057400" y="2999160"/>
            <a:ext cx="13898520" cy="3178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Box 16"/>
          <p:cNvSpPr/>
          <p:nvPr/>
        </p:nvSpPr>
        <p:spPr>
          <a:xfrm>
            <a:off x="2094480" y="3893400"/>
            <a:ext cx="14172840" cy="280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Proposed Solution: </a:t>
            </a:r>
            <a:r>
              <a:rPr lang="en-US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QR-based virtual queue with digital tokens, live position and predicted waiting time.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Box 17"/>
          <p:cNvSpPr/>
          <p:nvPr/>
        </p:nvSpPr>
        <p:spPr>
          <a:xfrm>
            <a:off x="2094480" y="5004000"/>
            <a:ext cx="14172840" cy="289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Detailed Explanation: </a:t>
            </a:r>
            <a:r>
              <a:rPr lang="en-US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Connects counters into one guided flow: Registration → Fee Account → Verification → Approval.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Box 18"/>
          <p:cNvSpPr/>
          <p:nvPr/>
        </p:nvSpPr>
        <p:spPr>
          <a:xfrm>
            <a:off x="2094480" y="6111360"/>
            <a:ext cx="14172840" cy="2894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How It Addresses the Problem: </a:t>
            </a:r>
            <a:r>
              <a:rPr lang="en-US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Users know when to arrive and which counter to visit instead of standing blindly in long lines.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TextBox 19"/>
          <p:cNvSpPr/>
          <p:nvPr/>
        </p:nvSpPr>
        <p:spPr>
          <a:xfrm>
            <a:off x="2094480" y="7212600"/>
            <a:ext cx="14172840" cy="28080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20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Innovation &amp; Uniqueness: </a:t>
            </a:r>
            <a:r>
              <a:rPr lang="en-US" sz="20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Orchestrates dependent queues, recalculates ETA and reroutes users during counter/server failures.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Freeform 2"/>
          <p:cNvSpPr/>
          <p:nvPr/>
        </p:nvSpPr>
        <p:spPr>
          <a:xfrm>
            <a:off x="0" y="0"/>
            <a:ext cx="18287640" cy="10286640"/>
          </a:xfrm>
          <a:prstGeom prst="rect">
            <a:avLst/>
          </a:prstGeom>
          <a:blipFill rotWithShape="0">
            <a:blip r:embed="rId1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6" name="Freeform 6"/>
          <p:cNvSpPr/>
          <p:nvPr/>
        </p:nvSpPr>
        <p:spPr>
          <a:xfrm>
            <a:off x="1669680" y="4375080"/>
            <a:ext cx="411840" cy="411840"/>
          </a:xfrm>
          <a:prstGeom prst="rect">
            <a:avLst/>
          </a:prstGeom>
          <a:blipFill rotWithShape="0">
            <a:blip r:embed="rId2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7" name="Freeform 7"/>
          <p:cNvSpPr/>
          <p:nvPr/>
        </p:nvSpPr>
        <p:spPr>
          <a:xfrm>
            <a:off x="1669680" y="5870880"/>
            <a:ext cx="411840" cy="411840"/>
          </a:xfrm>
          <a:prstGeom prst="rect">
            <a:avLst/>
          </a:prstGeom>
          <a:blipFill rotWithShape="0">
            <a:blip r:embed="rId3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58" name="TextBox 8"/>
          <p:cNvSpPr/>
          <p:nvPr/>
        </p:nvSpPr>
        <p:spPr>
          <a:xfrm>
            <a:off x="17197560" y="9643320"/>
            <a:ext cx="253080" cy="5734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4700"/>
              </a:lnSpc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10"/>
          <p:cNvSpPr/>
          <p:nvPr/>
        </p:nvSpPr>
        <p:spPr>
          <a:xfrm>
            <a:off x="1600200" y="2225520"/>
            <a:ext cx="4813200" cy="517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0" u="none" strike="noStrike">
                <a:solidFill>
                  <a:srgbClr val="18055E"/>
                </a:solidFill>
                <a:effectLst/>
                <a:uFillTx/>
                <a:latin typeface="Times New Roman"/>
                <a:ea typeface="Times New Roman"/>
              </a:rPr>
              <a:t>TECHNICAL APPROACH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Box 11"/>
          <p:cNvSpPr/>
          <p:nvPr/>
        </p:nvSpPr>
        <p:spPr>
          <a:xfrm>
            <a:off x="2264760" y="4320360"/>
            <a:ext cx="13532760" cy="608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Technologies to be Used: </a:t>
            </a:r>
            <a:r>
              <a:rPr lang="en-US" sz="21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React Native, Node.js + Express / Go + Gin, MongoDB/PostgreSQL, Clerk / Postpipe, QR scanner and notifications + More 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Box 12"/>
          <p:cNvSpPr/>
          <p:nvPr/>
        </p:nvSpPr>
        <p:spPr>
          <a:xfrm>
            <a:off x="2264760" y="5815800"/>
            <a:ext cx="13532760" cy="6087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Methodology and Process: </a:t>
            </a:r>
            <a:r>
              <a:rPr lang="en-US" sz="21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Create workflow/counters → scan QR → generate token → calculate ETA → staff completes stage → next queue unlocks → analytics update.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Freeform 2"/>
          <p:cNvSpPr/>
          <p:nvPr/>
        </p:nvSpPr>
        <p:spPr>
          <a:xfrm>
            <a:off x="0" y="0"/>
            <a:ext cx="18287640" cy="10286640"/>
          </a:xfrm>
          <a:prstGeom prst="rect">
            <a:avLst/>
          </a:prstGeom>
          <a:blipFill rotWithShape="0">
            <a:blip r:embed="rId1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3" name="Freeform 7"/>
          <p:cNvSpPr/>
          <p:nvPr/>
        </p:nvSpPr>
        <p:spPr>
          <a:xfrm>
            <a:off x="1456920" y="3806280"/>
            <a:ext cx="411840" cy="411840"/>
          </a:xfrm>
          <a:prstGeom prst="rect">
            <a:avLst/>
          </a:prstGeom>
          <a:blipFill rotWithShape="0">
            <a:blip r:embed="rId2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4" name="Freeform 8"/>
          <p:cNvSpPr/>
          <p:nvPr/>
        </p:nvSpPr>
        <p:spPr>
          <a:xfrm>
            <a:off x="1456920" y="4969080"/>
            <a:ext cx="411840" cy="411840"/>
          </a:xfrm>
          <a:prstGeom prst="rect">
            <a:avLst/>
          </a:prstGeom>
          <a:blipFill rotWithShape="0">
            <a:blip r:embed="rId3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5" name="Freeform 9"/>
          <p:cNvSpPr/>
          <p:nvPr/>
        </p:nvSpPr>
        <p:spPr>
          <a:xfrm>
            <a:off x="1456920" y="6149520"/>
            <a:ext cx="411840" cy="411840"/>
          </a:xfrm>
          <a:prstGeom prst="rect">
            <a:avLst/>
          </a:prstGeom>
          <a:blipFill rotWithShape="0">
            <a:blip r:embed="rId4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10"/>
          <p:cNvSpPr/>
          <p:nvPr/>
        </p:nvSpPr>
        <p:spPr>
          <a:xfrm>
            <a:off x="17199360" y="9643320"/>
            <a:ext cx="249840" cy="5734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4700"/>
              </a:lnSpc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12"/>
          <p:cNvSpPr/>
          <p:nvPr/>
        </p:nvSpPr>
        <p:spPr>
          <a:xfrm>
            <a:off x="896040" y="1554480"/>
            <a:ext cx="5565960" cy="4521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18055E"/>
                </a:solidFill>
                <a:effectLst/>
                <a:uFillTx/>
                <a:latin typeface="Times New Roman"/>
                <a:ea typeface="Times New Roman"/>
              </a:rPr>
              <a:t>FEASIBILITY AND VIABILITY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3"/>
          <p:cNvSpPr/>
          <p:nvPr/>
        </p:nvSpPr>
        <p:spPr>
          <a:xfrm>
            <a:off x="2051640" y="3751200"/>
            <a:ext cx="13898520" cy="608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Feasibility Analysis: </a:t>
            </a:r>
            <a:r>
              <a:rPr lang="en-US" sz="21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MVP is practical using role dashboards, real-time token updates and ETA from active counters + average service time.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4"/>
          <p:cNvSpPr/>
          <p:nvPr/>
        </p:nvSpPr>
        <p:spPr>
          <a:xfrm>
            <a:off x="2051640" y="4914000"/>
            <a:ext cx="13898520" cy="3056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Potential Challenges &amp; Risks: </a:t>
            </a:r>
            <a:r>
              <a:rPr lang="en-US" sz="21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No-shows, counter downtime, rush-hour prediction errors and staff/user adoption.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Box 15"/>
          <p:cNvSpPr/>
          <p:nvPr/>
        </p:nvSpPr>
        <p:spPr>
          <a:xfrm>
            <a:off x="2051640" y="6094800"/>
            <a:ext cx="13898520" cy="608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21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Strategies to Overcome: </a:t>
            </a:r>
            <a:r>
              <a:rPr lang="en-US" sz="21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Arrival confirmation, grace period, skip/restore token, pause/resume counters, rerouting and admin override.</a:t>
            </a:r>
            <a:endParaRPr lang="en-US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Freeform 2"/>
          <p:cNvSpPr/>
          <p:nvPr/>
        </p:nvSpPr>
        <p:spPr>
          <a:xfrm>
            <a:off x="0" y="0"/>
            <a:ext cx="18287640" cy="10286640"/>
          </a:xfrm>
          <a:prstGeom prst="rect">
            <a:avLst/>
          </a:prstGeom>
          <a:blipFill rotWithShape="0">
            <a:blip r:embed="rId1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2" name="Freeform 6"/>
          <p:cNvSpPr/>
          <p:nvPr/>
        </p:nvSpPr>
        <p:spPr>
          <a:xfrm>
            <a:off x="1672200" y="4897800"/>
            <a:ext cx="411840" cy="411840"/>
          </a:xfrm>
          <a:prstGeom prst="rect">
            <a:avLst/>
          </a:prstGeom>
          <a:blipFill rotWithShape="0">
            <a:blip r:embed="rId2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3" name="Freeform 7"/>
          <p:cNvSpPr/>
          <p:nvPr/>
        </p:nvSpPr>
        <p:spPr>
          <a:xfrm>
            <a:off x="1694160" y="6189120"/>
            <a:ext cx="411840" cy="411840"/>
          </a:xfrm>
          <a:prstGeom prst="rect">
            <a:avLst/>
          </a:prstGeom>
          <a:blipFill rotWithShape="0">
            <a:blip r:embed="rId3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17196840" y="9643320"/>
            <a:ext cx="254520" cy="5734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4700"/>
              </a:lnSpc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10"/>
          <p:cNvSpPr/>
          <p:nvPr/>
        </p:nvSpPr>
        <p:spPr>
          <a:xfrm>
            <a:off x="841320" y="1554480"/>
            <a:ext cx="4739040" cy="46404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400" b="0" u="none" strike="noStrike">
                <a:solidFill>
                  <a:srgbClr val="18055E"/>
                </a:solidFill>
                <a:effectLst/>
                <a:uFillTx/>
                <a:latin typeface="Times New Roman"/>
                <a:ea typeface="Times New Roman"/>
              </a:rPr>
              <a:t>IMPACT AND BENEFITS</a:t>
            </a:r>
            <a:endParaRPr lang="en-US" sz="3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11"/>
          <p:cNvSpPr/>
          <p:nvPr/>
        </p:nvSpPr>
        <p:spPr>
          <a:xfrm>
            <a:off x="2266920" y="4843080"/>
            <a:ext cx="13532760" cy="6321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Potential Impact: </a:t>
            </a:r>
            <a:r>
              <a:rPr lang="en-US" sz="22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Reduces physical waiting and overcrowding in colleges, hospitals, banks, government offices and registration centres.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Box 12"/>
          <p:cNvSpPr/>
          <p:nvPr/>
        </p:nvSpPr>
        <p:spPr>
          <a:xfrm>
            <a:off x="2288880" y="6134040"/>
            <a:ext cx="13532760" cy="6321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Benefits of the Solution: </a:t>
            </a:r>
            <a:r>
              <a:rPr lang="en-US" sz="22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Saves user-hours, improves transparency, balances counter workload, supports priority users and provides queue analytics.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Freeform 2"/>
          <p:cNvSpPr/>
          <p:nvPr/>
        </p:nvSpPr>
        <p:spPr>
          <a:xfrm>
            <a:off x="0" y="0"/>
            <a:ext cx="18287640" cy="10286640"/>
          </a:xfrm>
          <a:prstGeom prst="rect">
            <a:avLst/>
          </a:prstGeom>
          <a:blipFill rotWithShape="0">
            <a:blip r:embed="rId1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9" name="Freeform 6"/>
          <p:cNvSpPr/>
          <p:nvPr/>
        </p:nvSpPr>
        <p:spPr>
          <a:xfrm>
            <a:off x="1836360" y="5747040"/>
            <a:ext cx="411840" cy="411840"/>
          </a:xfrm>
          <a:prstGeom prst="rect">
            <a:avLst/>
          </a:prstGeom>
          <a:blipFill rotWithShape="0">
            <a:blip r:embed="rId2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0" name="Freeform 7"/>
          <p:cNvSpPr/>
          <p:nvPr/>
        </p:nvSpPr>
        <p:spPr>
          <a:xfrm>
            <a:off x="1789200" y="4267440"/>
            <a:ext cx="411840" cy="411840"/>
          </a:xfrm>
          <a:prstGeom prst="rect">
            <a:avLst/>
          </a:prstGeom>
          <a:blipFill rotWithShape="0">
            <a:blip r:embed="rId3"/>
            <a:srcRect/>
            <a:stretch/>
          </a:blipFill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tIns="45000" rIns="4572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8"/>
          <p:cNvSpPr/>
          <p:nvPr/>
        </p:nvSpPr>
        <p:spPr>
          <a:xfrm>
            <a:off x="17186760" y="9643320"/>
            <a:ext cx="274680" cy="5734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algn="ctr" defTabSz="914400">
              <a:lnSpc>
                <a:spcPts val="4700"/>
              </a:lnSpc>
              <a:tabLst>
                <a:tab pos="0" algn="l"/>
              </a:tabLst>
            </a:pPr>
            <a:r>
              <a:rPr lang="en-US" sz="3300" b="0" u="none" strike="noStrike">
                <a:solidFill>
                  <a:srgbClr val="FFFFFF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3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0"/>
          <p:cNvSpPr/>
          <p:nvPr/>
        </p:nvSpPr>
        <p:spPr>
          <a:xfrm>
            <a:off x="896040" y="1554480"/>
            <a:ext cx="5748120" cy="4521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tIns="0" rIns="0" bIns="0" anchor="t">
            <a:sp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200" b="0" u="none" strike="noStrike">
                <a:solidFill>
                  <a:srgbClr val="18055E"/>
                </a:solidFill>
                <a:effectLst/>
                <a:uFillTx/>
                <a:latin typeface="Times New Roman"/>
                <a:ea typeface="Times New Roman"/>
              </a:rPr>
              <a:t>RESEARCH AND REFERENCES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1"/>
          <p:cNvSpPr/>
          <p:nvPr/>
        </p:nvSpPr>
        <p:spPr>
          <a:xfrm>
            <a:off x="2384280" y="4212720"/>
            <a:ext cx="13532760" cy="3178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Reference Details: </a:t>
            </a:r>
            <a:r>
              <a:rPr lang="en-US" sz="22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Queueing theory: FCFS, priority queue, service time, throughput and multi-counter load balancing.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12"/>
          <p:cNvSpPr/>
          <p:nvPr/>
        </p:nvSpPr>
        <p:spPr>
          <a:xfrm>
            <a:off x="2431440" y="5691960"/>
            <a:ext cx="13532760" cy="63216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95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Research Work / Links: </a:t>
            </a:r>
            <a:r>
              <a:rPr lang="en-US" sz="2200" b="0" u="none" strike="noStrike">
                <a:solidFill>
                  <a:srgbClr val="141414"/>
                </a:solidFill>
                <a:effectLst/>
                <a:uFillTx/>
                <a:latin typeface="Times New Roman"/>
                <a:ea typeface="Times New Roman"/>
              </a:rPr>
              <a:t>Workflow management systems, QR token verification, real-time notification systems, Socket.IO/Firebase documentation and public-service queue observations.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Box 13"/>
          <p:cNvSpPr/>
          <p:nvPr/>
        </p:nvSpPr>
        <p:spPr>
          <a:xfrm>
            <a:off x="2286000" y="6903720"/>
            <a:ext cx="11703960" cy="256680"/>
          </a:xfrm>
          <a:prstGeom prst="rect">
            <a:avLst/>
          </a:prstGeom>
          <a:noFill/>
          <a:ln w="1270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spAutoFit/>
          </a:bodyPr>
          <a:p>
            <a:pPr defTabSz="914400">
              <a:lnSpc>
                <a:spcPct val="98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52525C"/>
                </a:solidFill>
                <a:effectLst/>
                <a:uFillTx/>
                <a:latin typeface="Times New Roman"/>
                <a:ea typeface="Times New Roman"/>
              </a:rPr>
              <a:t>Core idea: turn physical waiting into a predictable, guided and digitally orchestrated service flow.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 pitchFamily="0" charset="1"/>
        <a:ea typeface="Calibri" pitchFamily="0" charset="1"/>
        <a:cs typeface="Calibri" pitchFamily="0" charset="1"/>
      </a:majorFont>
      <a:minorFont>
        <a:latin typeface="Helvetica" pitchFamily="0" charset="1"/>
        <a:ea typeface="Helvetica" pitchFamily="0" charset="1"/>
        <a:cs typeface="Helvetica" pitchFamily="0" charset="1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LibreOffice/26.2.6.1$Linux_X86_64 LibreOffice_project/620$Build-1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2026-09-06T13:46:14Z</dcterms:modified>
  <cp:revision>1</cp:revision>
  <dc:subject/>
  <dc:title/>
</cp:coreProperties>
</file>